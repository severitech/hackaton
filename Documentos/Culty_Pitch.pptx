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Producción de granos (millones t)</c:v>
                </c:pt>
              </c:strCache>
            </c:strRef>
          </c:tx>
          <c:spPr>
            <a:solidFill>
              <a:srgbClr val="6B8E3D"/>
            </a:solidFill>
            <a:effectLst/>
          </c:spPr>
          <c:invertIfNegative val="0"/>
          <c:dLbls>
            <c:numFmt formatCode="0.0&quot;M&quot;" sourceLinked="0"/>
            <c:txPr>
              <a:bodyPr/>
              <a:lstStyle/>
              <a:p>
                <a:pPr>
                  <a:defRPr b="1" i="0" strike="noStrike" sz="1600" u="none">
                    <a:solidFill>
                      <a:srgbClr val="2C5F2D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2022
(sequía extrema)</c:v>
                  </c:pt>
                  <c:pt idx="1">
                    <c:v>2023
(buen clima)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4.52</c:v>
                </c:pt>
                <c:pt idx="1">
                  <c:v>5.83</c:v>
                </c:pt>
              </c:numCache>
            </c:numRef>
          </c:val>
        </c:ser>
        <c:dLbls>
          <c:numFmt formatCode="0.0&quot;M&quot;" sourceLinked="0"/>
          <c:txPr>
            <a:bodyPr/>
            <a:lstStyle/>
            <a:p>
              <a:pPr>
                <a:defRPr b="1" i="0" strike="noStrike" sz="1600" u="none">
                  <a:solidFill>
                    <a:srgbClr val="2C5F2D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B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7F2"/>
        </a:solidFill>
        <a:ln>
          <a:noFill/>
        </a:ln>
        <a:effectLst/>
      </c:spPr>
    </c:plotArea>
    <c:plotVisOnly val="1"/>
    <c:dispBlanksAs val="span"/>
  </c:chart>
  <c:spPr>
    <a:solidFill>
      <a:srgbClr val="F6F7F2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Caída de producción 2024 (%)</c:v>
                </c:pt>
              </c:strCache>
            </c:strRef>
          </c:tx>
          <c:spPr>
            <a:solidFill>
              <a:srgbClr val="C0492B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C0492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Trigo</c:v>
                  </c:pt>
                  <c:pt idx="1">
                    <c:v>Sorgo</c:v>
                  </c:pt>
                  <c:pt idx="2">
                    <c:v>Arroz</c:v>
                  </c:pt>
                  <c:pt idx="3">
                    <c:v>Maíz</c:v>
                  </c:pt>
                  <c:pt idx="4">
                    <c:v>Soya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-72.09</c:v>
                </c:pt>
                <c:pt idx="1">
                  <c:v>-72.7</c:v>
                </c:pt>
                <c:pt idx="2">
                  <c:v>-52.38</c:v>
                </c:pt>
                <c:pt idx="3">
                  <c:v>-40</c:v>
                </c:pt>
                <c:pt idx="4">
                  <c:v>-37.6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300" u="none">
                  <a:solidFill>
                    <a:srgbClr val="C0492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1" i="0" u="none" strike="noStrike">
                <a:solidFill>
                  <a:srgbClr val="1A241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6F7F2"/>
        </a:solidFill>
        <a:ln>
          <a:noFill/>
        </a:ln>
        <a:effectLst/>
      </c:spPr>
    </c:plotArea>
    <c:plotVisOnly val="1"/>
    <c:dispBlanksAs val="span"/>
  </c:chart>
  <c:spPr>
    <a:solidFill>
      <a:srgbClr val="F6F7F2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2.xml"/><Relationship Id="rId1" Type="http://schemas.openxmlformats.org/officeDocument/2006/relationships/image" Target="../media/image-4-1.png"/><Relationship Id="rId3" Type="http://schemas.openxmlformats.org/officeDocument/2006/relationships/image" Target="../media/image-4-2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572000" cy="45720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241280" y="4206240"/>
            <a:ext cx="3291840" cy="3291840"/>
          </a:xfrm>
          <a:prstGeom prst="ellipse">
            <a:avLst/>
          </a:prstGeom>
          <a:solidFill>
            <a:srgbClr val="6B8E3D">
              <a:alpha val="6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777240"/>
            <a:ext cx="777240" cy="7772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173736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CULTY</a:t>
            </a:r>
            <a:endParaRPr lang="en-US" sz="8000" dirty="0"/>
          </a:p>
        </p:txBody>
      </p:sp>
      <p:sp>
        <p:nvSpPr>
          <p:cNvPr id="6" name="Text 3"/>
          <p:cNvSpPr/>
          <p:nvPr/>
        </p:nvSpPr>
        <p:spPr>
          <a:xfrm>
            <a:off x="868680" y="3063240"/>
            <a:ext cx="8686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Inteligencia climática por voz para el agro cruceño</a:t>
            </a:r>
            <a:endParaRPr lang="en-US" sz="2200" dirty="0"/>
          </a:p>
        </p:txBody>
      </p:sp>
      <p:sp>
        <p:nvSpPr>
          <p:cNvPr id="7" name="Text 4"/>
          <p:cNvSpPr/>
          <p:nvPr/>
        </p:nvSpPr>
        <p:spPr>
          <a:xfrm>
            <a:off x="868680" y="4114800"/>
            <a:ext cx="8229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9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diferencia entre cosechar y perderlo todo en Santa Cruz</a:t>
            </a:r>
            <a:endParaRPr lang="en-US" sz="1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800" dirty="0">
                <a:solidFill>
                  <a:srgbClr val="D9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siempre fue el clima. Nosotros lo anticipamos.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868680" y="603504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8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Hackathon Build With AI 2026  ·  Santa Cruz, Bolivia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300" kern="0" dirty="0">
                <a:solidFill>
                  <a:srgbClr val="6B8E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problema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A2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clima decide cada año si el agricultor </a:t>
            </a:r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C04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cosecha o lo pierde todo</a:t>
            </a:r>
            <a:pPr indent="0" marL="0">
              <a:lnSpc>
                <a:spcPct val="105000"/>
              </a:lnSpc>
              <a:buNone/>
            </a:pPr>
            <a:r>
              <a:rPr lang="en-US" sz="3000" dirty="0">
                <a:solidFill>
                  <a:srgbClr val="1A2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— y hoy no tiene cómo anticiparlo.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822960" y="25146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 cuando el clima golpea a Santa Cruz, golpea la mesa de toda Bolivia: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3291840"/>
            <a:ext cx="21488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3291840"/>
            <a:ext cx="91440" cy="17373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7" name="Text 5"/>
          <p:cNvSpPr/>
          <p:nvPr/>
        </p:nvSpPr>
        <p:spPr>
          <a:xfrm>
            <a:off x="1005840" y="3566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34,3%</a:t>
            </a:r>
            <a:endParaRPr lang="en-US" sz="3700" dirty="0"/>
          </a:p>
        </p:txBody>
      </p:sp>
      <p:sp>
        <p:nvSpPr>
          <p:cNvPr id="8" name="Text 6"/>
          <p:cNvSpPr/>
          <p:nvPr/>
        </p:nvSpPr>
        <p:spPr>
          <a:xfrm>
            <a:off x="1005840" y="4434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 PIB nacional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00400" y="3291840"/>
            <a:ext cx="21488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00400" y="3291840"/>
            <a:ext cx="91440" cy="17373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3566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77%</a:t>
            </a:r>
            <a:endParaRPr lang="en-US" sz="3700" dirty="0"/>
          </a:p>
        </p:txBody>
      </p:sp>
      <p:sp>
        <p:nvSpPr>
          <p:cNvPr id="12" name="Text 10"/>
          <p:cNvSpPr/>
          <p:nvPr/>
        </p:nvSpPr>
        <p:spPr>
          <a:xfrm>
            <a:off x="3383280" y="4434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los alimentos del país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577840" y="3291840"/>
            <a:ext cx="2148840" cy="173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577840" y="3291840"/>
            <a:ext cx="91440" cy="1737360"/>
          </a:xfrm>
          <a:prstGeom prst="rect">
            <a:avLst/>
          </a:prstGeom>
          <a:solidFill>
            <a:srgbClr val="97BC62"/>
          </a:solidFill>
          <a:ln/>
        </p:spPr>
      </p:sp>
      <p:sp>
        <p:nvSpPr>
          <p:cNvPr id="15" name="Text 13"/>
          <p:cNvSpPr/>
          <p:nvPr/>
        </p:nvSpPr>
        <p:spPr>
          <a:xfrm>
            <a:off x="5760720" y="3566160"/>
            <a:ext cx="1920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7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+80%</a:t>
            </a:r>
            <a:endParaRPr lang="en-US" sz="3700" dirty="0"/>
          </a:p>
        </p:txBody>
      </p:sp>
      <p:sp>
        <p:nvSpPr>
          <p:cNvPr id="16" name="Text 14"/>
          <p:cNvSpPr/>
          <p:nvPr/>
        </p:nvSpPr>
        <p:spPr>
          <a:xfrm>
            <a:off x="5760720" y="443484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las agroexportaciones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960120"/>
            <a:ext cx="3154680" cy="4069080"/>
          </a:xfrm>
          <a:prstGeom prst="rect">
            <a:avLst/>
          </a:prstGeom>
          <a:solidFill>
            <a:srgbClr val="1E3A24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58200" y="1234440"/>
            <a:ext cx="548640" cy="54864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9098280" y="128016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solución: Culty</a:t>
            </a:r>
            <a:endParaRPr lang="en-US" sz="1900" dirty="0"/>
          </a:p>
        </p:txBody>
      </p:sp>
      <p:sp>
        <p:nvSpPr>
          <p:cNvPr id="20" name="Text 17"/>
          <p:cNvSpPr/>
          <p:nvPr/>
        </p:nvSpPr>
        <p:spPr>
          <a:xfrm>
            <a:off x="8458200" y="2011680"/>
            <a:ext cx="2651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9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asistente por voz en WhatsApp que pone inteligencia climática y agronómica en el teléfono del agricultor.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9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Alertas por región y cultivo, con hasta 12 meses de anticipación.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8458200" y="4023360"/>
            <a:ext cx="2651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b="1" i="1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evitamos la sequía ni la inundación. Evitamos que el agricultor las enfrente a ciegas.</a:t>
            </a:r>
            <a:endParaRPr lang="en-US" sz="1400" dirty="0"/>
          </a:p>
        </p:txBody>
      </p:sp>
      <p:sp>
        <p:nvSpPr>
          <p:cNvPr id="22" name="Text 19"/>
          <p:cNvSpPr/>
          <p:nvPr/>
        </p:nvSpPr>
        <p:spPr>
          <a:xfrm>
            <a:off x="822960" y="62636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Fuentes: ANAPO / CAO — participación de Santa Cruz en la economía agropecuaria nacional.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 clima lo decide todo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2344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campo, mismos agricultores. La única variable que cambió fue el clima.</a:t>
            </a:r>
            <a:endParaRPr lang="en-US" sz="1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822960" y="2011680"/>
          <a:ext cx="56692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949440" y="2148840"/>
            <a:ext cx="4389120" cy="1874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2423160"/>
            <a:ext cx="640080" cy="64008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955280" y="22860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0A1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+29%</a:t>
            </a:r>
            <a:endParaRPr lang="en-US" sz="5400" dirty="0"/>
          </a:p>
        </p:txBody>
      </p:sp>
      <p:sp>
        <p:nvSpPr>
          <p:cNvPr id="8" name="Text 4"/>
          <p:cNvSpPr/>
          <p:nvPr/>
        </p:nvSpPr>
        <p:spPr>
          <a:xfrm>
            <a:off x="7223760" y="3291840"/>
            <a:ext cx="3886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Récord histórico: 5.827.842 toneladas de granos en 2023, frente a 2022.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949440" y="4206240"/>
            <a:ext cx="4389120" cy="1828800"/>
          </a:xfrm>
          <a:prstGeom prst="rect">
            <a:avLst/>
          </a:prstGeom>
          <a:solidFill>
            <a:srgbClr val="1E3A24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4480560"/>
            <a:ext cx="548640" cy="54864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09560" y="4434840"/>
            <a:ext cx="3200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D9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campaña de invierno 2023 creció 69% respecto a 2022, año de sequía extrema.</a:t>
            </a:r>
            <a:endParaRPr lang="en-US" sz="1500" dirty="0"/>
          </a:p>
        </p:txBody>
      </p:sp>
      <p:sp>
        <p:nvSpPr>
          <p:cNvPr id="12" name="Text 7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Cruz · 2022 vs 2023.  Fuente: CAO / prensa agropecuaria.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5029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la sequía se llevó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Santa Cruz · 2024 · caída de producción frente a 2023</a:t>
            </a:r>
            <a:endParaRPr lang="en-US" sz="17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822960" y="2011680"/>
          <a:ext cx="64008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Shape 2"/>
          <p:cNvSpPr/>
          <p:nvPr/>
        </p:nvSpPr>
        <p:spPr>
          <a:xfrm>
            <a:off x="7635240" y="2240280"/>
            <a:ext cx="3703320" cy="3657600"/>
          </a:xfrm>
          <a:prstGeom prst="rect">
            <a:avLst/>
          </a:prstGeom>
          <a:solidFill>
            <a:srgbClr val="1E3A24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09560" y="2514600"/>
            <a:ext cx="640080" cy="64008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909560" y="3200400"/>
            <a:ext cx="3200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$485 M</a:t>
            </a:r>
            <a:endParaRPr lang="en-US" sz="5200" dirty="0"/>
          </a:p>
        </p:txBody>
      </p:sp>
      <p:sp>
        <p:nvSpPr>
          <p:cNvPr id="9" name="Text 4"/>
          <p:cNvSpPr/>
          <p:nvPr/>
        </p:nvSpPr>
        <p:spPr>
          <a:xfrm>
            <a:off x="790956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97BC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pérdidas por la sequía</a:t>
            </a:r>
            <a:endParaRPr lang="en-US" sz="1600" dirty="0"/>
          </a:p>
        </p:txBody>
      </p:sp>
      <p:sp>
        <p:nvSpPr>
          <p:cNvPr id="10" name="Text 5"/>
          <p:cNvSpPr/>
          <p:nvPr/>
        </p:nvSpPr>
        <p:spPr>
          <a:xfrm>
            <a:off x="7909560" y="461772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400" dirty="0">
                <a:solidFill>
                  <a:srgbClr val="D9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rendimientos cayendo hasta −57% en trigo, soya, maíz, sorgo, girasol y chía.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Fuente: Atlas de Vulnerabilidad / evaluación CAO 2024.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48640"/>
            <a:ext cx="548640" cy="5486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508760" y="502920"/>
            <a:ext cx="9601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 que la inundación destruyó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822960" y="132588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Julián · 2025 · cuando el río Grande se desbordó</a:t>
            </a:r>
            <a:endParaRPr lang="en-US" sz="1700" dirty="0"/>
          </a:p>
        </p:txBody>
      </p:sp>
      <p:sp>
        <p:nvSpPr>
          <p:cNvPr id="5" name="Shape 2"/>
          <p:cNvSpPr/>
          <p:nvPr/>
        </p:nvSpPr>
        <p:spPr>
          <a:xfrm>
            <a:off x="822960" y="2057400"/>
            <a:ext cx="5120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822960" y="2057400"/>
            <a:ext cx="91440" cy="1783080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560320"/>
            <a:ext cx="777240" cy="7772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2148840" y="231343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20.000 ha</a:t>
            </a:r>
            <a:endParaRPr lang="en-US" sz="3600" dirty="0"/>
          </a:p>
        </p:txBody>
      </p:sp>
      <p:sp>
        <p:nvSpPr>
          <p:cNvPr id="9" name="Text 5"/>
          <p:cNvSpPr/>
          <p:nvPr/>
        </p:nvSpPr>
        <p:spPr>
          <a:xfrm>
            <a:off x="2148840" y="30815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soya perdidas solo en San Julián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6263640" y="2057400"/>
            <a:ext cx="5120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263640" y="2057400"/>
            <a:ext cx="91440" cy="1783080"/>
          </a:xfrm>
          <a:prstGeom prst="rect">
            <a:avLst/>
          </a:prstGeom>
          <a:solidFill>
            <a:srgbClr val="C0492B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2560320"/>
            <a:ext cx="777240" cy="7772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589520" y="231343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4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~100%</a:t>
            </a:r>
            <a:endParaRPr lang="en-US" sz="3600" dirty="0"/>
          </a:p>
        </p:txBody>
      </p:sp>
      <p:sp>
        <p:nvSpPr>
          <p:cNvPr id="14" name="Text 9"/>
          <p:cNvSpPr/>
          <p:nvPr/>
        </p:nvSpPr>
        <p:spPr>
          <a:xfrm>
            <a:off x="7589520" y="308152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pérdida en las parcelas bajo el agua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822960" y="4069080"/>
            <a:ext cx="5120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822960" y="4069080"/>
            <a:ext cx="91440" cy="1783080"/>
          </a:xfrm>
          <a:prstGeom prst="rect">
            <a:avLst/>
          </a:prstGeom>
          <a:solidFill>
            <a:srgbClr val="97BC62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3000" y="4572000"/>
            <a:ext cx="777240" cy="77724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2148840" y="43251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$40 M</a:t>
            </a:r>
            <a:endParaRPr lang="en-US" sz="3600" dirty="0"/>
          </a:p>
        </p:txBody>
      </p:sp>
      <p:sp>
        <p:nvSpPr>
          <p:cNvPr id="19" name="Text 13"/>
          <p:cNvSpPr/>
          <p:nvPr/>
        </p:nvSpPr>
        <p:spPr>
          <a:xfrm>
            <a:off x="2148840" y="50932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pérdida confirmada en el municipio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263640" y="4069080"/>
            <a:ext cx="5120640" cy="17830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5"/>
          <p:cNvSpPr/>
          <p:nvPr/>
        </p:nvSpPr>
        <p:spPr>
          <a:xfrm>
            <a:off x="6263640" y="4069080"/>
            <a:ext cx="91440" cy="1783080"/>
          </a:xfrm>
          <a:prstGeom prst="rect">
            <a:avLst/>
          </a:prstGeom>
          <a:solidFill>
            <a:srgbClr val="C0492B"/>
          </a:solidFill>
          <a:ln/>
        </p:spPr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83680" y="4572000"/>
            <a:ext cx="777240" cy="77724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589520" y="4325112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04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+71.000 ha</a:t>
            </a:r>
            <a:endParaRPr lang="en-US" sz="3600" dirty="0"/>
          </a:p>
        </p:txBody>
      </p:sp>
      <p:sp>
        <p:nvSpPr>
          <p:cNvPr id="24" name="Text 17"/>
          <p:cNvSpPr/>
          <p:nvPr/>
        </p:nvSpPr>
        <p:spPr>
          <a:xfrm>
            <a:off x="7589520" y="5093208"/>
            <a:ext cx="3657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afectadas en todo el departamento (~$140 M)</a:t>
            </a:r>
            <a:endParaRPr lang="en-US" sz="1400" dirty="0"/>
          </a:p>
        </p:txBody>
      </p:sp>
      <p:sp>
        <p:nvSpPr>
          <p:cNvPr id="25" name="Text 18"/>
          <p:cNvSpPr/>
          <p:nvPr/>
        </p:nvSpPr>
        <p:spPr>
          <a:xfrm>
            <a:off x="822960" y="630936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AA6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Datos oficiales: alcaldía de San Julián y reporte COED Santa Cruz, 2025.  (~100% y ~$140 M son aproximaciones.)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A241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solución y la tecnología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822960" y="12801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C6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Culty predice, por región y por cultivo: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5212080" cy="36576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6DA"/>
            </a:solidFill>
            <a:prstDash val="solid"/>
          </a:ln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24028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91640" y="224028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C5F2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Qué predice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143000" y="2971800"/>
            <a:ext cx="46634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de anomalía: SEQUÍA / INUNDACIÓN / NORMAL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Nivel de severidad (1 a 5)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 compuesto (0 a 10: CRÍTICO → MÍNIMO)</a:t>
            </a:r>
            <a:endParaRPr lang="en-US" sz="1500" dirty="0"/>
          </a:p>
          <a:p>
            <a:pPr marL="228600" indent="-2286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A24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Hasta 12 meses de anticipación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6309360" y="1965960"/>
            <a:ext cx="5029200" cy="3657600"/>
          </a:xfrm>
          <a:prstGeom prst="rect">
            <a:avLst/>
          </a:prstGeom>
          <a:solidFill>
            <a:srgbClr val="1E3A24"/>
          </a:solidFill>
          <a:ln/>
          <a:effectLst>
            <a:outerShdw sx="100000" sy="100000" kx="0" ky="0" algn="bl" rotWithShape="0" blurRad="889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629400" y="224028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Cómo lo hace</a:t>
            </a:r>
            <a:endParaRPr lang="en-US" sz="2000" dirty="0"/>
          </a:p>
        </p:txBody>
      </p:sp>
      <p:sp>
        <p:nvSpPr>
          <p:cNvPr id="10" name="Shape 7"/>
          <p:cNvSpPr/>
          <p:nvPr/>
        </p:nvSpPr>
        <p:spPr>
          <a:xfrm>
            <a:off x="6629400" y="2880360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11696" y="2962656"/>
            <a:ext cx="292608" cy="29260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269480" y="2834640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Open-Meteo API  </a:t>
            </a:r>
            <a:pPr indent="0" marL="0">
              <a:buNone/>
            </a:pPr>
            <a:r>
              <a:rPr lang="en-US" sz="1400" dirty="0">
                <a:solidFill>
                  <a:srgbClr val="D9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clima real, gratis, sin API key</a:t>
            </a:r>
            <a:endParaRPr lang="en-US" sz="1400" dirty="0"/>
          </a:p>
        </p:txBody>
      </p:sp>
      <p:sp>
        <p:nvSpPr>
          <p:cNvPr id="13" name="Shape 9"/>
          <p:cNvSpPr/>
          <p:nvPr/>
        </p:nvSpPr>
        <p:spPr>
          <a:xfrm>
            <a:off x="6629400" y="3593592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1696" y="3675888"/>
            <a:ext cx="292608" cy="29260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269480" y="3547872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Earth Engine  </a:t>
            </a:r>
            <a:pPr indent="0" marL="0">
              <a:buNone/>
            </a:pPr>
            <a:r>
              <a:rPr lang="en-US" sz="1400" dirty="0">
                <a:solidFill>
                  <a:srgbClr val="D9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datos satelitales de la parcela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6629400" y="4306824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11696" y="4389120"/>
            <a:ext cx="292608" cy="29260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269480" y="4261104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+ Llama 3.3  </a:t>
            </a:r>
            <a:pPr indent="0" marL="0">
              <a:buNone/>
            </a:pPr>
            <a:r>
              <a:rPr lang="en-US" sz="1400" dirty="0">
                <a:solidFill>
                  <a:srgbClr val="D9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traduce el dato a consejo claro</a:t>
            </a:r>
            <a:endParaRPr lang="en-US" sz="1400" dirty="0"/>
          </a:p>
        </p:txBody>
      </p:sp>
      <p:sp>
        <p:nvSpPr>
          <p:cNvPr id="19" name="Shape 13"/>
          <p:cNvSpPr/>
          <p:nvPr/>
        </p:nvSpPr>
        <p:spPr>
          <a:xfrm>
            <a:off x="6629400" y="5020056"/>
            <a:ext cx="457200" cy="45720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11696" y="5102352"/>
            <a:ext cx="292608" cy="29260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269480" y="4974336"/>
            <a:ext cx="3931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· API de Meta  </a:t>
            </a:r>
            <a:pPr indent="0" marL="0">
              <a:buNone/>
            </a:pPr>
            <a:r>
              <a:rPr lang="en-US" sz="1400" dirty="0">
                <a:solidFill>
                  <a:srgbClr val="D9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alerta por voz al agricultor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2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4389120"/>
            <a:ext cx="4572000" cy="4572000"/>
          </a:xfrm>
          <a:prstGeom prst="ellipse">
            <a:avLst/>
          </a:prstGeom>
          <a:solidFill>
            <a:srgbClr val="2C5F2D"/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-1371600"/>
            <a:ext cx="3657600" cy="3657600"/>
          </a:xfrm>
          <a:prstGeom prst="ellipse">
            <a:avLst/>
          </a:prstGeom>
          <a:solidFill>
            <a:srgbClr val="6B8E3D">
              <a:alpha val="5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914400" y="1371600"/>
            <a:ext cx="10332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D9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2023 el buen clima dio un récord. 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D9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2024 la sequía costó $485 millones. </a:t>
            </a:r>
            <a:endParaRPr lang="en-US" sz="2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D9E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2025 las riadas se llevaron casi el 100% de 20.000 ha en San Julián.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3566160"/>
            <a:ext cx="10332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i="1" dirty="0">
                <a:solidFill>
                  <a:srgbClr val="97BC6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 diferencia siempre fue el clima.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914400" y="4343400"/>
            <a:ext cx="10332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Culty le da al agricultor los ojos para verlo venir.</a:t>
            </a:r>
            <a:endParaRPr lang="en-US" sz="40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5532120"/>
            <a:ext cx="548640" cy="5486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553212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spc="2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CULTY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Culty — Pitch</dc:title>
  <dc:subject>PptxGenJS Presentation</dc:subject>
  <dc:creator>Equipo Culty</dc:creator>
  <cp:lastModifiedBy>Equipo Culty</cp:lastModifiedBy>
  <cp:revision>1</cp:revision>
  <dcterms:created xsi:type="dcterms:W3CDTF">2026-05-31T13:16:53Z</dcterms:created>
  <dcterms:modified xsi:type="dcterms:W3CDTF">2026-05-31T13:16:53Z</dcterms:modified>
</cp:coreProperties>
</file>